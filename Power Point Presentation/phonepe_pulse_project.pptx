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2" r:id="rId2"/>
    <p:sldId id="273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74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4FDD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Vijay4050/PhonePe-Pulse-Project/tree/main/Data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65E66-8417-8C1B-646F-FEFE25C9A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u="sng" dirty="0"/>
              <a:t>PhonePe Pulse Capstone Project</a:t>
            </a:r>
            <a:endParaRPr lang="en-IN" i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362EE1-763C-6B98-A3D1-7CD5A13E94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/>
              <a:t>This project analyses India’s digital payment ecosystem using the PhonePe Pulse dataset. It builds an end-to-end data pipeline — from raw JSON data extraction to an interactive Stream lit dashboard — to uncover insights about user behaviour, device distribution, insurance adoption, and regional trends.</a:t>
            </a:r>
          </a:p>
        </p:txBody>
      </p:sp>
    </p:spTree>
    <p:extLst>
      <p:ext uri="{BB962C8B-B14F-4D97-AF65-F5344CB8AC3E}">
        <p14:creationId xmlns:p14="http://schemas.microsoft.com/office/powerpoint/2010/main" val="22911999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E1576-F386-7B26-6090-B0D4FFF08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i="1" u="sng" dirty="0"/>
              <a:t>Problem Statement</a:t>
            </a:r>
            <a:endParaRPr lang="en-IN" i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258D58-AC3B-7970-E940-F1EBA9535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With the rapid growth of digital payments in India, understanding usage patterns is crucial. This project aims to: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Analyze transaction trends across states and years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Identify dominant mobile devices used on the platform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Evaluate insurance adoption across regions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Measure user engagement and activity levels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Highlight top-performing states based on key metrics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37046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Workflow</a:t>
            </a:r>
            <a:endParaRPr sz="3200" i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Exploration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Extraction of Analyzed Data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Tables Creation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Ingestion to tables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Creation </a:t>
            </a:r>
          </a:p>
          <a:p>
            <a:pPr marL="514350" indent="-514350">
              <a:buFont typeface="+mj-lt"/>
              <a:buAutoNum type="arabicPeriod"/>
            </a:pP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i="1" u="sng" dirty="0"/>
              <a:t>Data Source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Dataset: PhonePe Pulse (official GitHub repository)</a:t>
            </a:r>
          </a:p>
          <a:p>
            <a:r>
              <a:rPr lang="en-IN" dirty="0"/>
              <a:t>Format: JSON (hierarchical structure)</a:t>
            </a:r>
          </a:p>
          <a:p>
            <a:r>
              <a:rPr lang="en-IN" dirty="0"/>
              <a:t>Categories:</a:t>
            </a:r>
          </a:p>
          <a:p>
            <a:pPr lvl="1"/>
            <a:r>
              <a:rPr lang="en-IN" dirty="0"/>
              <a:t>Aggregated Data</a:t>
            </a:r>
          </a:p>
          <a:p>
            <a:pPr lvl="1"/>
            <a:r>
              <a:rPr lang="en-IN" dirty="0"/>
              <a:t>Map Data</a:t>
            </a:r>
          </a:p>
          <a:p>
            <a:pPr lvl="1"/>
            <a:r>
              <a:rPr lang="en-IN" dirty="0"/>
              <a:t>Top Data</a:t>
            </a:r>
          </a:p>
          <a:p>
            <a:pPr marL="457200" lvl="1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https://github.com/Vijay4050/PhonePe-Pulse-Project/tree/main/Data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i="1" u="sng" dirty="0"/>
              <a:t>Data Exploration</a:t>
            </a:r>
            <a:endParaRPr i="1" u="sng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B38E48A-181B-B31C-08F8-CFB68262841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199" y="1361120"/>
            <a:ext cx="8229601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Conducted in-depth exploration of raw datasets to understand data architecture and business context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Mapped relationships between transactions, users, devices, and geographic data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Evaluated trends across time (year-wise), regions (state/district), and categories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Identified data quality issues including null values, inconsistencies, and naming variations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Derived initial insights to guide analytical queries and visualizations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br>
              <a:rPr lang="en-IN" i="1" u="sng" dirty="0"/>
            </a:br>
            <a:r>
              <a:rPr lang="en-IN" i="1" u="sng" dirty="0"/>
              <a:t>Data </a:t>
            </a:r>
            <a:r>
              <a:rPr lang="en-IN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Extraction</a:t>
            </a:r>
            <a:br>
              <a:rPr lang="en-IN" i="1" u="sng" dirty="0"/>
            </a:br>
            <a:endParaRPr i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/>
              <a:t>Extracted relevant fields from nested JSON files and transformed them into structured tabular format using Python (Pandas) </a:t>
            </a:r>
          </a:p>
          <a:p>
            <a:pPr algn="just"/>
            <a:r>
              <a:rPr lang="en-IN" dirty="0"/>
              <a:t>Consolidated multi-level data (state, year, quarter) into unified datasets for efficient querying and analysis</a:t>
            </a:r>
          </a:p>
          <a:p>
            <a:pPr algn="just"/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i="1" u="sng" dirty="0"/>
              <a:t>Table Creation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Designed and created structured SQL tables aligned with analytical requirements, defining appropriate data types and schema relationships </a:t>
            </a:r>
          </a:p>
          <a:p>
            <a:pPr algn="just"/>
            <a:r>
              <a:rPr lang="en-US" dirty="0"/>
              <a:t>Loaded transformed datasets into relational tables to enable efficient querying, aggregation, and visualization</a:t>
            </a:r>
          </a:p>
          <a:p>
            <a:pPr marL="0" indent="0" algn="just">
              <a:buNone/>
            </a:pP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i="1" u="sng" dirty="0"/>
              <a:t>Data </a:t>
            </a:r>
            <a:r>
              <a:rPr lang="en-US" i="1" u="sng" dirty="0" err="1"/>
              <a:t>Visualisation</a:t>
            </a:r>
            <a:endParaRPr i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Developed interactive visualizations to uncover trends in transactions, user growth, and device distribution across regions and time </a:t>
            </a:r>
          </a:p>
          <a:p>
            <a:pPr algn="just"/>
            <a:r>
              <a:rPr lang="en-US" dirty="0"/>
              <a:t>Designed intuitive charts and dashboards to effectively communicate insights and support data-driven decision making </a:t>
            </a:r>
          </a:p>
          <a:p>
            <a:pPr algn="just"/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i="1" u="sng" dirty="0"/>
              <a:t>Stream Lit</a:t>
            </a:r>
            <a:endParaRPr i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Developed interactive visualizations to uncover trends in transactions, user growth, and device distribution across regions and time </a:t>
            </a:r>
          </a:p>
          <a:p>
            <a:pPr algn="just"/>
            <a:r>
              <a:rPr lang="en-US" dirty="0"/>
              <a:t>Designed intuitive charts and dashboards to effectively communicate insights and support data-driven decision making </a:t>
            </a:r>
          </a:p>
          <a:p>
            <a:pPr algn="just"/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1. Transaction Dynamics Notebook</a:t>
            </a:r>
            <a:br>
              <a:rPr lang="en-US" sz="3200" b="1" dirty="0"/>
            </a:br>
            <a:r>
              <a:rPr lang="en-US" sz="2000" i="1" dirty="0"/>
              <a:t>(Year-wise / Quarter-wise transaction trends)</a:t>
            </a:r>
            <a:endParaRPr lang="en-US" sz="2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i="1" u="sng" dirty="0"/>
              <a:t>Insight</a:t>
            </a:r>
          </a:p>
          <a:p>
            <a:pPr marL="0" indent="0">
              <a:buNone/>
            </a:pPr>
            <a:r>
              <a:rPr lang="en-US" dirty="0"/>
              <a:t>Transaction volume is highly concentrated in a few top states, indicating uneven digital payment adoption across regions 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i="1" u="sng" dirty="0"/>
              <a:t>Recommendations</a:t>
            </a:r>
          </a:p>
          <a:p>
            <a:r>
              <a:rPr lang="en-US" dirty="0"/>
              <a:t>Focus on expanding adoption in mid and low-performing states through targeted campaigns and merchant onboarding </a:t>
            </a:r>
          </a:p>
          <a:p>
            <a:r>
              <a:rPr lang="en-US" dirty="0"/>
              <a:t>Leverage high-performing states for premium services and replicate their success strategies in emerging regions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/>
              <a:t>2. Device Dominance Notebook</a:t>
            </a:r>
            <a:br>
              <a:rPr lang="en-IN" b="1" dirty="0"/>
            </a:br>
            <a:r>
              <a:rPr lang="en-IN" sz="2700" i="1" dirty="0"/>
              <a:t>(Brand share, device usage patterns)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i="1" u="sng" dirty="0"/>
              <a:t>Insight:</a:t>
            </a:r>
            <a:br>
              <a:rPr lang="en-IN" dirty="0"/>
            </a:br>
            <a:r>
              <a:rPr lang="en-IN" dirty="0"/>
              <a:t>User base is heavily concentrated around a few dominant smartphone brands.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i="1" u="sng" dirty="0"/>
              <a:t>Recommendation:</a:t>
            </a:r>
          </a:p>
          <a:p>
            <a:r>
              <a:rPr lang="en-IN" dirty="0"/>
              <a:t>Prioritize app optimization for top brands </a:t>
            </a:r>
          </a:p>
          <a:p>
            <a:r>
              <a:rPr lang="en-IN" dirty="0"/>
              <a:t>Partner with leading manufacturers for bundled offers </a:t>
            </a:r>
          </a:p>
          <a:p>
            <a:r>
              <a:rPr lang="en-IN" dirty="0"/>
              <a:t>Optimize lightweight app versions for budget devices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3. User Engagement Analysis Notebook</a:t>
            </a:r>
            <a:br>
              <a:rPr lang="en-US" b="1" dirty="0"/>
            </a:br>
            <a:r>
              <a:rPr lang="en-US" sz="2700" i="1" dirty="0"/>
              <a:t>(App opens vs registered users)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i="1" u="sng" dirty="0"/>
              <a:t>Insight:</a:t>
            </a:r>
            <a:br>
              <a:rPr lang="en-US" dirty="0"/>
            </a:br>
            <a:r>
              <a:rPr lang="en-US" dirty="0"/>
              <a:t>Mismatch between registered users and app opens indicates engagement drop-off.</a:t>
            </a:r>
          </a:p>
          <a:p>
            <a:pPr marL="0" indent="0">
              <a:buNone/>
            </a:pPr>
            <a:endParaRPr lang="en-US" i="1" u="sng" dirty="0"/>
          </a:p>
          <a:p>
            <a:pPr marL="0" indent="0">
              <a:buNone/>
            </a:pPr>
            <a:r>
              <a:rPr lang="en-US" i="1" u="sng" dirty="0"/>
              <a:t>Recommendation:</a:t>
            </a:r>
          </a:p>
          <a:p>
            <a:r>
              <a:rPr lang="en-US" dirty="0"/>
              <a:t>Targeted Campaigns at Moderately Concentrated areas</a:t>
            </a:r>
          </a:p>
          <a:p>
            <a:r>
              <a:rPr lang="en-US" dirty="0"/>
              <a:t>Premium packs in Highly concentrated areas. Introduce gamification / rewards to increase retention.</a:t>
            </a:r>
          </a:p>
          <a:p>
            <a:endParaRPr lang="en-US" dirty="0"/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b="1" dirty="0"/>
              <a:t>4. State-wise / Regional Analysis Notebook</a:t>
            </a:r>
            <a:br>
              <a:rPr lang="en-US" b="1" dirty="0"/>
            </a:br>
            <a:r>
              <a:rPr lang="en-US" sz="2700" i="1" dirty="0"/>
              <a:t>(State dominance, regional contribution)</a:t>
            </a:r>
            <a:br>
              <a:rPr lang="en-US" dirty="0"/>
            </a:b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u="sng" dirty="0"/>
              <a:t>Insight:</a:t>
            </a:r>
            <a:br>
              <a:rPr lang="en-US" u="sng" dirty="0"/>
            </a:br>
            <a:r>
              <a:rPr lang="en-US" dirty="0"/>
              <a:t>Significant regional imbalance in transaction volume and user adoption.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i="1" u="sng" dirty="0"/>
              <a:t>Recommendation:</a:t>
            </a:r>
          </a:p>
          <a:p>
            <a:r>
              <a:rPr lang="en-US" dirty="0"/>
              <a:t>Run localized marketing campaigns in low-performing states </a:t>
            </a:r>
          </a:p>
          <a:p>
            <a:r>
              <a:rPr lang="en-US" dirty="0"/>
              <a:t>Add regional language support to improve accessibility </a:t>
            </a:r>
          </a:p>
          <a:p>
            <a:r>
              <a:rPr lang="en-US" dirty="0"/>
              <a:t>Build partnerships with local merchants and vendors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5. District-level / Geo Analysis Notebook</a:t>
            </a:r>
            <a:br>
              <a:rPr lang="en-US" b="1" dirty="0"/>
            </a:br>
            <a:r>
              <a:rPr lang="en-US" sz="2700" i="1" dirty="0"/>
              <a:t>(Top districts, granular insights)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i="1" u="sng" dirty="0"/>
              <a:t>Insight:</a:t>
            </a:r>
            <a:br>
              <a:rPr lang="en-US" dirty="0"/>
            </a:br>
            <a:r>
              <a:rPr lang="en-US" dirty="0"/>
              <a:t>A small number of districts contribute disproportionately to total activity.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i="1" u="sng" dirty="0"/>
              <a:t>Recommendation:</a:t>
            </a:r>
          </a:p>
          <a:p>
            <a:r>
              <a:rPr lang="en-US" dirty="0"/>
              <a:t>Expand aggressively in mid-tier districts with growth potential </a:t>
            </a:r>
          </a:p>
          <a:p>
            <a:r>
              <a:rPr lang="en-US" dirty="0"/>
              <a:t>Replicate successful strategies from top-performing districts </a:t>
            </a:r>
          </a:p>
          <a:p>
            <a:r>
              <a:rPr lang="en-US" dirty="0"/>
              <a:t>Strengthen merchant ecosystem in underpenetrated areas</a:t>
            </a:r>
          </a:p>
          <a:p>
            <a:endParaRPr lang="en-US" dirty="0"/>
          </a:p>
          <a:p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8BD60-207F-3DEE-3676-2F34F7706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274638"/>
            <a:ext cx="8229600" cy="114300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EFB7B7-C386-A2AC-2F50-FC72AAC4E4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344" y="1097280"/>
            <a:ext cx="8229600" cy="45259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000" dirty="0"/>
              <a:t>Thank You</a:t>
            </a:r>
            <a:endParaRPr lang="en-IN" sz="6000" dirty="0"/>
          </a:p>
        </p:txBody>
      </p:sp>
    </p:spTree>
    <p:extLst>
      <p:ext uri="{BB962C8B-B14F-4D97-AF65-F5344CB8AC3E}">
        <p14:creationId xmlns:p14="http://schemas.microsoft.com/office/powerpoint/2010/main" val="5331247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321</TotalTime>
  <Words>649</Words>
  <Application>Microsoft Office PowerPoint</Application>
  <PresentationFormat>On-screen Show (4:3)</PresentationFormat>
  <Paragraphs>78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Times New Roman</vt:lpstr>
      <vt:lpstr>Office Theme</vt:lpstr>
      <vt:lpstr>PhonePe Pulse Capstone Project</vt:lpstr>
      <vt:lpstr>Problem Statement</vt:lpstr>
      <vt:lpstr>Project Workflow</vt:lpstr>
      <vt:lpstr>Data Source</vt:lpstr>
      <vt:lpstr>Data Exploration</vt:lpstr>
      <vt:lpstr> Data Extraction </vt:lpstr>
      <vt:lpstr>Table Creation</vt:lpstr>
      <vt:lpstr>Data Visualisation</vt:lpstr>
      <vt:lpstr>Stream Lit</vt:lpstr>
      <vt:lpstr>1. Transaction Dynamics Notebook (Year-wise / Quarter-wise transaction trends)</vt:lpstr>
      <vt:lpstr>2. Device Dominance Notebook (Brand share, device usage patterns)</vt:lpstr>
      <vt:lpstr>3. User Engagement Analysis Notebook (App opens vs registered users)</vt:lpstr>
      <vt:lpstr>4. State-wise / Regional Analysis Notebook (State dominance, regional contribution) </vt:lpstr>
      <vt:lpstr>5. District-level / Geo Analysis Notebook (Top districts, granular insights)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Vijay</dc:creator>
  <cp:keywords/>
  <dc:description>generated using python-pptx</dc:description>
  <cp:lastModifiedBy>Vijay Krishna PE</cp:lastModifiedBy>
  <cp:revision>3</cp:revision>
  <dcterms:created xsi:type="dcterms:W3CDTF">2013-01-27T09:14:16Z</dcterms:created>
  <dcterms:modified xsi:type="dcterms:W3CDTF">2026-03-27T11:35:56Z</dcterms:modified>
  <cp:category/>
</cp:coreProperties>
</file>